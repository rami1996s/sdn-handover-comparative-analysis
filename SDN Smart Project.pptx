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66" r:id="rId3"/>
    <p:sldId id="306" r:id="rId4"/>
    <p:sldId id="298" r:id="rId5"/>
    <p:sldId id="302" r:id="rId6"/>
    <p:sldId id="303" r:id="rId7"/>
    <p:sldId id="259" r:id="rId8"/>
    <p:sldId id="319" r:id="rId9"/>
    <p:sldId id="264" r:id="rId10"/>
    <p:sldId id="274" r:id="rId11"/>
    <p:sldId id="269" r:id="rId12"/>
    <p:sldId id="270" r:id="rId13"/>
    <p:sldId id="320" r:id="rId14"/>
    <p:sldId id="272" r:id="rId15"/>
    <p:sldId id="276" r:id="rId16"/>
    <p:sldId id="277" r:id="rId17"/>
    <p:sldId id="278" r:id="rId18"/>
    <p:sldId id="281" r:id="rId19"/>
    <p:sldId id="307" r:id="rId20"/>
    <p:sldId id="321" r:id="rId21"/>
    <p:sldId id="308" r:id="rId22"/>
    <p:sldId id="318" r:id="rId23"/>
    <p:sldId id="285" r:id="rId24"/>
    <p:sldId id="286" r:id="rId25"/>
    <p:sldId id="287" r:id="rId26"/>
    <p:sldId id="289" r:id="rId27"/>
    <p:sldId id="309" r:id="rId28"/>
    <p:sldId id="310" r:id="rId29"/>
    <p:sldId id="311" r:id="rId30"/>
    <p:sldId id="312" r:id="rId31"/>
    <p:sldId id="313" r:id="rId32"/>
    <p:sldId id="315" r:id="rId33"/>
    <p:sldId id="316" r:id="rId34"/>
    <p:sldId id="317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B5253ED-1ECC-4E6F-8DFE-43469D43958A}">
          <p14:sldIdLst>
            <p14:sldId id="256"/>
            <p14:sldId id="266"/>
            <p14:sldId id="306"/>
            <p14:sldId id="298"/>
            <p14:sldId id="302"/>
            <p14:sldId id="303"/>
            <p14:sldId id="259"/>
            <p14:sldId id="319"/>
            <p14:sldId id="264"/>
            <p14:sldId id="274"/>
            <p14:sldId id="269"/>
            <p14:sldId id="270"/>
            <p14:sldId id="320"/>
            <p14:sldId id="272"/>
            <p14:sldId id="276"/>
            <p14:sldId id="277"/>
            <p14:sldId id="278"/>
            <p14:sldId id="281"/>
            <p14:sldId id="307"/>
            <p14:sldId id="321"/>
            <p14:sldId id="308"/>
            <p14:sldId id="318"/>
            <p14:sldId id="285"/>
            <p14:sldId id="286"/>
            <p14:sldId id="287"/>
            <p14:sldId id="289"/>
            <p14:sldId id="309"/>
            <p14:sldId id="310"/>
            <p14:sldId id="311"/>
            <p14:sldId id="312"/>
            <p14:sldId id="313"/>
            <p14:sldId id="315"/>
            <p14:sldId id="316"/>
            <p14:sldId id="3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118" autoAdjust="0"/>
  </p:normalViewPr>
  <p:slideViewPr>
    <p:cSldViewPr snapToGrid="0">
      <p:cViewPr varScale="1">
        <p:scale>
          <a:sx n="76" d="100"/>
          <a:sy n="76" d="100"/>
        </p:scale>
        <p:origin x="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4CA05-23DF-44AC-B3B7-713B6672E11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EE047-5F3F-4619-94C0-5AAC9A157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74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EE047-5F3F-4619-94C0-5AAC9A157A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83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EE047-5F3F-4619-94C0-5AAC9A157A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42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EE047-5F3F-4619-94C0-5AAC9A157A2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7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EE047-5F3F-4619-94C0-5AAC9A157A2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30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EE047-5F3F-4619-94C0-5AAC9A157A2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10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EE047-5F3F-4619-94C0-5AAC9A157A2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50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77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51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0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0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6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94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6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396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29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14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6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B46E1-ECB9-472C-9970-5FA41B5FC64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2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FB083-0469-D94E-505E-B88607E1F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16" y="1152144"/>
            <a:ext cx="12088368" cy="399592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ENGINEERING, MODELING, ELECTRONICS AND SYSTEM ENGINEERING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LM-Telecommunication Engineering: Smart Sensing, Computing and Networking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of Smart and Programmable Networks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with Title: Comparative Analysis of Handover Strategies under Random Way Point and Random Direction Mobility in SDN-Enabled Mininet-WiFi Networks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:  Prof. Pasquale Pace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Eng. Graziano Rizzo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2F8C3-7F95-CE93-542E-2439D3BA0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5294377"/>
            <a:ext cx="10561320" cy="136080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by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Rami Saleh             Hussein Mohammed                Gebre Halefom Meresa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B2BE90-0CFB-867B-D09B-715FCE6BF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" y="0"/>
            <a:ext cx="2429898" cy="126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64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AE48C-2145-740E-B860-D0E273AE7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8" y="71892"/>
            <a:ext cx="11567160" cy="76021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1. 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CF161-2E99-B63C-A86E-0522B1739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08" y="832104"/>
            <a:ext cx="11606784" cy="59540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of Seamless Mobility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Wireless Networks Face Critical Challenges: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expect uninterrupted connectivity while moving across coverage areas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Latency-sensitive applications (VoIP, AR/VR, gaming, video streaming) are increasingly common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handover mechanisms cause visible service interruptions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devices frequently traverse overlapping Access Point (AP) coverage areas</a:t>
            </a:r>
          </a:p>
        </p:txBody>
      </p:sp>
    </p:spTree>
    <p:extLst>
      <p:ext uri="{BB962C8B-B14F-4D97-AF65-F5344CB8AC3E}">
        <p14:creationId xmlns:p14="http://schemas.microsoft.com/office/powerpoint/2010/main" val="1413060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09759-3D4F-BDDA-6DF0-BC24A7345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97727"/>
            <a:ext cx="11850624" cy="78924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1. 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55304-A981-98AA-A61A-00E5D7483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" y="886968"/>
            <a:ext cx="11850624" cy="57881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SDN Paradigm Shift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Software-Defined Networking (SDN):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Logically centralized control plane decoupled from data plane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network view: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Controller (e.g., Ryu) maintains complete state — AP load, link quality, mobility, topology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strategies: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Predict mobility, pre-install forwarding rules, balance traffic across APs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Mitigate delay and packet loss during handovers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Motivation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investigates SDN-assisted handover strategies in an emulated WLAN environment based on Mininet-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study focuses on understanding how different mobility patterns and control strategies interact, and on identifying which mechanisms are most suitable for highly mobile and dense network scenarios.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44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1A78-3847-235F-F0FF-00D097B6A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18255"/>
            <a:ext cx="11402568" cy="105159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2. Background: IEEE 802.11 Link-Layer Handover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08327-490B-2B63-A5C8-A6358AAE9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1069848"/>
            <a:ext cx="11402568" cy="5669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Layer-2 Handover Process (Roaming)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Link-layer handover, often called roaming, is the process by which a station transfers its association from one access point to another within the same IP subnet. The process is typically divided into three main stages that collectively determine handover performance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1: SCANNING (50 – 200 ms)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2: AUTHENTICATION (10 – 100 ms)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3: RE-ASSOCIATION (30 – 50 ms)</a:t>
            </a:r>
          </a:p>
        </p:txBody>
      </p:sp>
    </p:spTree>
    <p:extLst>
      <p:ext uri="{BB962C8B-B14F-4D97-AF65-F5344CB8AC3E}">
        <p14:creationId xmlns:p14="http://schemas.microsoft.com/office/powerpoint/2010/main" val="3051809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65BEF-3263-306A-6DB9-AF66ACEF6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464" y="109093"/>
            <a:ext cx="11530584" cy="988187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2. Background: Canonical Mobility Models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C872E-C578-671C-923F-F7302DDE9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464" y="1097280"/>
            <a:ext cx="11530584" cy="5651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Way Point (RWP)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 Characteristics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Node repeatedly selects random destination and speed within specified range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Moves to chosen waypoint, pauses for random period, then repeats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distribution: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Tends to concentrate near center (spatial clustering)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Pause behavior: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Creates characteristic pause-move-pause pattern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Handover Implications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residence time: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Stations spend more time per AP due to pauses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Smoother signal variations: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Predictable movement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17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305ED-DBA1-E638-1B92-6CD0D4FDA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" y="18255"/>
            <a:ext cx="11561064" cy="111560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2. Background: Canonical Mobility Models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4A606-C1E8-DFE7-BB55-EC4179A4B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" y="1133856"/>
            <a:ext cx="11561064" cy="5458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Direction (RD)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 Characteristics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Node chooses random direction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 ∈ [0, 2π),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until boundary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behavior: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Reflects or chooses new direction at edges, continues motion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distribution: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More uniform across simulation area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movement: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No pause intervals, constant mobility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Handover Implications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Shorter residence time: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Frequent boundary crossings reduce AP dwell time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RSSI changes: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Unpredictable signal strength fluctuations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handover frequency: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More handover triggers.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020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F5636-2B65-6409-DA16-3CE6C4AF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84" y="142253"/>
            <a:ext cx="11686032" cy="97331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3. Problems &amp; Goals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18822-89F5-7B24-7BED-61CF076AD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884" y="1115567"/>
            <a:ext cx="11686032" cy="56001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Handover Problem: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mobile station moves from one AP to another, it must disassociate and reassociate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approach is client-driven and reactive: Station initiates scanning only after signal strength deteriorates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Scanning alone may consume tens to hundreds of milliseconds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handshakes and reassociation add further delay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real-time traffic, these interruptions cause visible application-level failures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how different movement patterns affect throughput, delay, and jitter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roaming strategies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SDN controller overhead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settings that improve video streaming quality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462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C304A-0036-AD89-795C-BAC2A1FC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82" y="109728"/>
            <a:ext cx="11740134" cy="85102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System Design &amp;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95ADD-7F22-B5ED-A94E-AEC8D2D71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82" y="960754"/>
            <a:ext cx="11740134" cy="5787517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Mininet-WiFi used as emulation platform for reproducible experiments.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APs arranged in a central-hub topology: AP5 at center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connected to all others; cross links provide redundancy.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mobile stations (STA1-STA5) with unique mobility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profiles and handover sensitivities.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Ryu SDN Controller communicates with APs via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OpenFlow 1.3, collects signal and load statistics, and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applies handover policies.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157BEA-FF32-4A0A-028E-EDDD43DA2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286" y="1298764"/>
            <a:ext cx="5608530" cy="511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183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E6FA8-7568-F94A-0EEC-D15DF1881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68" y="90805"/>
            <a:ext cx="11789664" cy="84864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5. Handover Strategies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94C0F-C977-4EF3-7153-6A71A122C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8" y="939454"/>
            <a:ext cx="11814048" cy="57082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Reactive Strategy (Baseline)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waits until the connection becomes bad or fully drops before switching to another AP. It reacts after the problem happens.</a:t>
            </a:r>
          </a:p>
          <a:p>
            <a:pPr marL="0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holds the connection until signal falls below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80 dBm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Scans available APs after disconnection every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seconds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strongest signal without prediction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network-wide optimization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low controller work &amp; Very slow handovers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 &amp; Not optimized for the whole network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for: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slow-moving users, non-critical apps (browsing, background sync)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890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73B2D-6DDC-E828-78D9-6BAD62AB4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9093"/>
            <a:ext cx="11676888" cy="86931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5. Handover Strategies 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14ABC-47B8-9901-B62B-E3F3F3A90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978408"/>
            <a:ext cx="11676888" cy="5770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Proactive Strategy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Proactive Strategy, the system does not switch APs immediately when the signal starts getting worse.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it predicts the future and asks: “How sure am I that a handover will be needed soon?”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certainty is expressed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level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number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and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level expresses how certain the system must be before acting.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 (50% confidence):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thinks there is a moderate chance a handover will be needed (react more aggressively ,risk more false predictions)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for RD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 (70% confidence):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more certain that a handover is needed (less false positives).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for RWP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47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6BC3-709A-4068-147B-95C893738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6" y="72517"/>
            <a:ext cx="11475720" cy="92417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5. Handover Strategies 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DF46B-8B6E-E625-DA49-CE2D6A0E7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996695"/>
            <a:ext cx="11640312" cy="5788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Proactive Strategy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 interval: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signal strength trends continuously (Signal threshold: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65 dBm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degradation 5 seconds in advance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 Probability: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 – 0.7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(confidence needed before doing the handover)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Pre-installs flows at target AP before handover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Model-aware probability thresholds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751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35F1C-2646-99E4-3010-C5423A90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464" y="125401"/>
            <a:ext cx="11814048" cy="8438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5. Handover Strategies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673BF-DDAC-01A6-4131-A39418A76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464" y="969264"/>
            <a:ext cx="11814048" cy="57633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Proactive Strategy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Algorithm: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signal_trend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RSSI_now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RSSI_5s_ago) / 5       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the rate of change of the signal in dBm per second 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(A negative trend means the signal is getting weaker over time)</a:t>
            </a:r>
            <a:br>
              <a:rPr lang="en-US" sz="2000" dirty="0"/>
            </a:br>
            <a:r>
              <a:rPr lang="en-US" sz="2000" dirty="0"/>
              <a:t>                                                                                            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signal_trend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– 2 dBm/s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RSSI_now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– 65 dBm: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(if The signal is dropping fast (more than 2 dBm every second)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and current signal is already below the safe threshold (−65 dBm)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prepare_handover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                              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(controller begins preparing the handover)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confidence ≥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Min_Probability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controller uses the stability of the trend to compute a confidence probability)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(When this probability exceeds a minimum threshold, the controller is confident the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the signal will continue to degrade)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execute_handover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(At that moment, it executes the handover early, before the connection becomes unstable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A512E2-6562-5BC7-4A88-C71A15A0504C}"/>
              </a:ext>
            </a:extLst>
          </p:cNvPr>
          <p:cNvCxnSpPr>
            <a:cxnSpLocks/>
          </p:cNvCxnSpPr>
          <p:nvPr/>
        </p:nvCxnSpPr>
        <p:spPr>
          <a:xfrm>
            <a:off x="6096000" y="3739896"/>
            <a:ext cx="423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826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F247E-6C2D-BEFE-8AC3-D29CADEE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72517"/>
            <a:ext cx="11187684" cy="89674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5. Handover Strategies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4BCEF-0737-7A1D-CDE7-E63913A1B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060704"/>
            <a:ext cx="11187684" cy="561441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Proactive Strategy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 shorter interruption of service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control-plane overhead (more signaling)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to remember past signal measurements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Especially useful when devices move quickly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for: video streaming, VoIP calls, mobile IoT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780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276A4-9A03-6AE7-9CD3-26CB15CD4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1"/>
            <a:ext cx="11649456" cy="841247"/>
          </a:xfrm>
        </p:spPr>
        <p:txBody>
          <a:bodyPr>
            <a:noAutofit/>
          </a:bodyPr>
          <a:lstStyle/>
          <a:p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5. Handover Strategies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665F3-EA22-2878-DAB5-B2AF82615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841248"/>
            <a:ext cx="11649456" cy="58978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Load-Aware Strategy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strategy Looks not just at signal, but also at how busy each AP is (“load”), so it balances users among APs to prevent some from overloading.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threshold: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70 dBm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weight: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weight: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Function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score = 0.7 ×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signal_strength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+ 0.3 × (1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load_factor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× 100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target_AP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AP with maximum score </a:t>
            </a:r>
          </a:p>
          <a:p>
            <a:pPr marL="0" indent="0">
              <a:buNone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load_factor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number between 0 and 1 that indicates how full or busy an AP is (0 = empty, 1 = very loaded)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726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0D21-AA9C-1015-CB27-5104D7AB9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90805"/>
            <a:ext cx="11631168" cy="878459"/>
          </a:xfrm>
        </p:spPr>
        <p:txBody>
          <a:bodyPr>
            <a:noAutofit/>
          </a:bodyPr>
          <a:lstStyle/>
          <a:p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5. Handover Strategies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06B89-6935-2BFC-FE98-809DC5795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969264"/>
            <a:ext cx="11423904" cy="57979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Load-Aware Strategy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balancing of users across the network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delay for handover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real-time monitoring of AP load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Fairer distribution of connections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crowded or dense places (e.g., stadiums, conference halls)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199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507AF-1A0C-04A7-D560-AD038D5BE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90805"/>
            <a:ext cx="11795760" cy="979043"/>
          </a:xfrm>
        </p:spPr>
        <p:txBody>
          <a:bodyPr>
            <a:noAutofit/>
          </a:bodyPr>
          <a:lstStyle/>
          <a:p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5. Handover Strategies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AEF75-4FF0-8567-DDBA-DE3938857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" y="1069848"/>
            <a:ext cx="11795760" cy="56973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Signal-Based Strategy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strategy: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very high (aggressive) signal threshold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–60 dBm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)to encourage handovers only when signal is good.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hysteresis margin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dBm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)to avoid flip-flopping (“ping-pong”) between APs.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signal quickly and often for fast decisions.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Hysteresis Logic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RSSI_new_AP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RSSI_current_AP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+ 5 dBm: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allow_handover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(handover is allowed only when the new AP’s signal is at least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dBm stronger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the current one)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else: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stay_connected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(Otherwise, the station stays connected to avoid unnecessary switching)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Hysteresis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classic technique in control systems and networking to prevent “oscillation” ; by requiring a clear margin before switching, you avoid unnecessary handovers when signal just wiggles a little.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548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D8D1E-C0BF-6E2C-F5AD-F78D6396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04" y="139073"/>
            <a:ext cx="11746992" cy="866767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5. Handover Strategies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3AB10-9667-D7B3-1C7B-531C45C4E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04" y="1005839"/>
            <a:ext cx="11746992" cy="57130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Signal-Based Strategy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fast handovers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too frequent switching if signal is noisy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 maintains good signal quality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stable, accurate signal measurements</a:t>
            </a:r>
          </a:p>
          <a:p>
            <a:pPr marL="0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584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AAF3-5892-E3D4-FE9E-F27A3C486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8237"/>
            <a:ext cx="11676888" cy="942467"/>
          </a:xfrm>
        </p:spPr>
        <p:txBody>
          <a:bodyPr>
            <a:noAutofit/>
          </a:bodyPr>
          <a:lstStyle/>
          <a:p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5. Handover Strategies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9B1FE-89C9-ACE5-8E4E-B7AFC7C8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060704"/>
            <a:ext cx="11676888" cy="56790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IIV. SDN-Optimized Strategy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strategy Uses a controller and historic mobility patterns to improve predictions (threshold: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–65 dBm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Pre-installs flows on the predicted AP for seamless handover.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not just locally, but for the whole network (end-to-end paths).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overall performance among strategies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high control-plane overhead (lots of signaling)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SDN infrastructure (controller, flow programming)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uses the full power of SDN: pre-setup, traffic engineering, and prediction combine to deliver “make-before-break” handovers — minimizing packet loss or service interruption.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04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F7E3D-0498-89A8-7630-78B52CD1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9" y="122611"/>
            <a:ext cx="11719824" cy="102953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6. Performance Metrics &amp; Data Collection Methodology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C4D72-61C1-3B44-59E3-620678FDF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9" y="1152145"/>
            <a:ext cx="11719824" cy="5583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the measurement methodology is to record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everything happening in the network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you can later calculate primary metrics.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do this four types of data were collected 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Every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seconds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Ryu controller writes a line of information into a CSV file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CSV log contains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AP each station is connected to  / RSSI values / AP load  / packet counters / flow setup events / timestamps / controller decisions (handover commands)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This gives a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everything happening in the network.</a:t>
            </a:r>
          </a:p>
          <a:p>
            <a:pPr marL="0" indent="0">
              <a:buNone/>
            </a:pP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Signal Monitoring: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check signal strength using commands like: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Iwconfig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 wlan0 link , These commands run on each station and they measure the RSSI of the station’s current access point (in dBm)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RSSI is used to know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signal is weak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 handover happened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534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67C2D-4DDF-286E-425B-2DE70C14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18255"/>
            <a:ext cx="11631168" cy="960153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  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Performance Metrics &amp; Data Collection 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9E081-09BB-3BDD-E929-B261FD04B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978408"/>
            <a:ext cx="11631168" cy="576072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Packet Analysis (Throughput calculation)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Ryu controller logs        number of packets received and timestamps of packets To compute throughput.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This helps in calculating how fast data is being transmitted (Kbps).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Handover Detection (Detecting AP changes) 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“handover” happens when a station moves from AP X to AP Y , so it’s possible to detect it By checking changes in the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AP's MAC address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associated with the station.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logs these MAC changes in the CSV file.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This allows to calculate: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handover delay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handovers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loss during handover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7D7E30C-6065-42ED-C9F2-56BB9A897A54}"/>
              </a:ext>
            </a:extLst>
          </p:cNvPr>
          <p:cNvCxnSpPr>
            <a:cxnSpLocks/>
          </p:cNvCxnSpPr>
          <p:nvPr/>
        </p:nvCxnSpPr>
        <p:spPr>
          <a:xfrm>
            <a:off x="7379208" y="1179576"/>
            <a:ext cx="3474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23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EFD3-EB37-A34A-69DE-6F49032DE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85" y="137525"/>
            <a:ext cx="11838432" cy="102376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Performance Metrics &amp; Data Collection Methodology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1BA14-932A-2125-800F-D10FA2A54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784" y="1161289"/>
            <a:ext cx="11838431" cy="55591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Metrics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1.Handover Delay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required to switch from one AP to another. Lower is better.</a:t>
            </a:r>
          </a:p>
          <a:p>
            <a:pPr marL="0" indent="0">
              <a:buNone/>
            </a:pP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T_handover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T_detection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T_scan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T_authentication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T_reassociation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Handover Success Rate (%):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Success_Rate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Successful_Handovers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Total_Attempts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× 100%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Throughput (kbps)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=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Packets_Delivered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Packet_Size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8) 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Time_Window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1000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counters → from controller log      Time window → 5 seconds    Packet size → from iperf traffic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658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8728-B1B0-48E8-AA5B-9F98F6FAA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27381"/>
            <a:ext cx="11814048" cy="100647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Performance Metrics &amp; Data Collection Methodology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E2961-CE6A-E80C-9394-294FB7A47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33856"/>
            <a:ext cx="11734800" cy="5596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Latency (ms)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RTT = the time for a packet to go to the destination and back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(is measured using ICMP ping packets)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= RTT / 2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(because we take only the one-way delay)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Metrics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Jitter: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in latency measurements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Loss: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packets lost during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SDN-Specific Metrics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Control Plane Overhead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Flow Setup Time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Controller Latency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65154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C9BDB-B066-180E-946F-BB2C792C5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7" y="18255"/>
            <a:ext cx="11576304" cy="103330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7. Experimental Results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2334B7-1B51-03F6-0FFD-6D6C413CA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7" y="1051560"/>
            <a:ext cx="11576304" cy="56509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Procedure: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Deploy 7 APs + 5 stations in Mininet-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Start Ryu SDN controller                   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Configure mobility model (RWP or RD)       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Generate traffic (ICMP pings + UDP iperf)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Rotate through strategies every 60 seconds: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→ Reactive → Proactive → Load-Aware →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Signal-Based → SDN-Optimized         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Collect metrics every 5 seconds         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Run for 15 or 20 minutes total                  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Repeat for both mobility models 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909D7E-696B-2DA6-2F67-68431EC02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5833" y="1304639"/>
            <a:ext cx="5532120" cy="5144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1592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53E60-2445-3158-3A8B-BEB400E27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18237"/>
            <a:ext cx="11679936" cy="108877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Experimental Results: Handover Delay Analysis from CSV Data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1AAC5-79EE-E09B-D4DD-80DBA4AEE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031" y="1207008"/>
            <a:ext cx="6371115" cy="536752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Handover delay is the time required to switch from one AP to another.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 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delay comparison shows that SDN Optimized and Proactive strategies achieve the lowest handover delay in both mobility models.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 Aware and Reactive strategy exhibits the highest delay, especially under Random Direction due to its post-degradation triggering.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confirms the advantage of predictive and SDN-assisted mechanisms in minimizing latency during mobility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73CA6B53-7659-BB5D-612C-9A949E026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146" y="1207008"/>
            <a:ext cx="5308822" cy="536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48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589E-8D54-FA0A-CB2E-CA886D7F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81661"/>
            <a:ext cx="11740896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Experimental Results: Success Rate Analysis from CSV Data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B9B1B-D5C7-58F1-ABBC-7709F5B3B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407224"/>
            <a:ext cx="6675120" cy="505686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rate measures the percentage of handover attempts that complete successfully without packet loss or connection drops.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 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100% success across both models for all triggered strategies, except the Reactive strategy which achieve (65 - 70 %) 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18F20850-F89F-65FB-D749-8312D8F2B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686" y="1407223"/>
            <a:ext cx="4709160" cy="505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48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C56E-0538-F5A0-C05B-E22B27FA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75" y="99949"/>
            <a:ext cx="1162202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Experimental Results: Packet Loss Analysis from CSV Data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01F00-650C-DA90-BEF0-3FFF54D14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75" y="1425511"/>
            <a:ext cx="11661650" cy="533253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loss during handover occurs when packets arrive while the station is disconnected from both APs 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SDN Optimized achieves 0.3% loss in both models, while Reactive (3.85 % RWP - 4.3 % RD).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Direction shows 68% higher loss overall compared to RWP (0.52 % vs 0.31 % avg) due to movement unpredictability.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with blue and red lines&#10;&#10;AI-generated content may be incorrect.">
            <a:extLst>
              <a:ext uri="{FF2B5EF4-FFF2-40B4-BE49-F238E27FC236}">
                <a16:creationId xmlns:a16="http://schemas.microsoft.com/office/drawing/2014/main" id="{2C720A80-7F04-2A55-D11D-943E65444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018315"/>
            <a:ext cx="7991853" cy="362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726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857A1-64C5-F921-DECD-7FE90F619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76" y="118237"/>
            <a:ext cx="1168603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Experimental Results: Throughput Analysis from CSV Data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11257-CB88-4B15-66A5-E8EE7D054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76" y="1443800"/>
            <a:ext cx="5830824" cy="510553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 measures successful data transmission rate, affected by handover disruptions.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SDN Optimized achieves 420 Kbps (RWP) and 415 Kbps (RD) - the highest throughput.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Based suffers from frequent handover overhead (50 handovers in RWP in the experimental) leading to achieve throughput (150 Kbps (RWP) and 80 Kbps (RD)).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BD682451-95A2-4922-CAFC-AD44885A8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1443800"/>
            <a:ext cx="5943600" cy="510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544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AFAE5-605D-5439-080F-1B1B142CE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552" y="144931"/>
            <a:ext cx="11740896" cy="99039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Experimental Results: Latency Analysis from CSV Data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3C0AA-10D0-81BA-B3CC-684AE0FD5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552" y="1135322"/>
            <a:ext cx="11740896" cy="557774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latency is the round-trip time for packets, affected by handover disruptions and AP quality.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SDN Optimized achieves 0.85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(RWP) &amp; 0.92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(RD) ,while the Reactive achieves 2.85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(RWP) &amp; 3.4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(RD).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strategies show 8 - 20% higher latency in RD due to unpredictable movement.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with blue and red lines&#10;&#10;AI-generated content may be incorrect.">
            <a:extLst>
              <a:ext uri="{FF2B5EF4-FFF2-40B4-BE49-F238E27FC236}">
                <a16:creationId xmlns:a16="http://schemas.microsoft.com/office/drawing/2014/main" id="{5A4D4E7E-22A2-039E-75CE-154E3B990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318" y="3065409"/>
            <a:ext cx="7865364" cy="364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44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EE9BE-AFD6-FE6D-609C-549923BE7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" y="77153"/>
            <a:ext cx="11722608" cy="96526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7. Results: Overall Performance Score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9C53F-BCBC-BB0C-7A8B-285954ABD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312" y="1042417"/>
            <a:ext cx="6154044" cy="533332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 Score combines multiple weighted metrics.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SDN Optimized scores 98 average with only 0.4% degradation from RWP to RD, demonstrating exceptional stability (predict mobility).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strategy scores 68 (RWP) &amp; 60 (RD) , so it suffers 9 % degradation, confirming it struggles under Random Direction stress (no movement prediction).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of a performance&#10;&#10;AI-generated content may be incorrect.">
            <a:extLst>
              <a:ext uri="{FF2B5EF4-FFF2-40B4-BE49-F238E27FC236}">
                <a16:creationId xmlns:a16="http://schemas.microsoft.com/office/drawing/2014/main" id="{A6ED8B2F-BA41-EE7A-7E09-867E92E92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356" y="1042417"/>
            <a:ext cx="5617332" cy="533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24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1B4A-CB83-7532-AB8F-337ADCA84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18255"/>
            <a:ext cx="11622024" cy="106988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8. Real-World Validation: Video Streaming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9B6D8-3997-323D-72C6-B87D895F6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" y="1088136"/>
            <a:ext cx="11673840" cy="5449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Streaming Performance Analysis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video streaming test conducted between two mobile stations (sta1 as sender, sta2 as receiver) using VLC media player over HTTP protocol during active mobility and handovers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CA0DEC-9AC7-51B3-AB94-AC4469EAD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3143548"/>
            <a:ext cx="7376799" cy="27815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0EEEDF-EFC0-E249-EFCE-53ACD843E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9271" y="3597310"/>
            <a:ext cx="2712955" cy="23277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3D0446-DDD5-D2E0-0BF2-7EE99C961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7696" y="3143548"/>
            <a:ext cx="2712956" cy="45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1948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101DD-F3D1-FA4B-B367-941FE292B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172071"/>
            <a:ext cx="11570208" cy="100750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8. Real-World Validation: Video Streaming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88E64-4FF6-076E-1FF8-6C34DA6B3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1179577"/>
            <a:ext cx="11676888" cy="5506352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Handover Metrics: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C09718-F774-816C-3231-DC7084CD2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257102"/>
              </p:ext>
            </p:extLst>
          </p:nvPr>
        </p:nvGraphicFramePr>
        <p:xfrm>
          <a:off x="1136068" y="1805327"/>
          <a:ext cx="853476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920">
                  <a:extLst>
                    <a:ext uri="{9D8B030D-6E8A-4147-A177-3AD203B41FA5}">
                      <a16:colId xmlns:a16="http://schemas.microsoft.com/office/drawing/2014/main" val="3195040694"/>
                    </a:ext>
                  </a:extLst>
                </a:gridCol>
                <a:gridCol w="2844920">
                  <a:extLst>
                    <a:ext uri="{9D8B030D-6E8A-4147-A177-3AD203B41FA5}">
                      <a16:colId xmlns:a16="http://schemas.microsoft.com/office/drawing/2014/main" val="1504382374"/>
                    </a:ext>
                  </a:extLst>
                </a:gridCol>
                <a:gridCol w="2844920">
                  <a:extLst>
                    <a:ext uri="{9D8B030D-6E8A-4147-A177-3AD203B41FA5}">
                      <a16:colId xmlns:a16="http://schemas.microsoft.com/office/drawing/2014/main" val="608350773"/>
                    </a:ext>
                  </a:extLst>
                </a:gridCol>
              </a:tblGrid>
              <a:tr h="436971">
                <a:tc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Metric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RWP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763339"/>
                  </a:ext>
                </a:extLst>
              </a:tr>
              <a:tr h="436971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Handover Delay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276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283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621714598"/>
                  </a:ext>
                </a:extLst>
              </a:tr>
              <a:tr h="436971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Success Rate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99.5%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99.4%</a:t>
                      </a: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163477291"/>
                  </a:ext>
                </a:extLst>
              </a:tr>
              <a:tr h="4369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Packet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0.58%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0.58%</a:t>
                      </a: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4226377586"/>
                  </a:ext>
                </a:extLst>
              </a:tr>
              <a:tr h="3787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-56.05 dBm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-56.15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8601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0E1F65E-5A62-1CAA-B828-E2AFFE6EF6BD}"/>
              </a:ext>
            </a:extLst>
          </p:cNvPr>
          <p:cNvSpPr txBox="1"/>
          <p:nvPr/>
        </p:nvSpPr>
        <p:spPr>
          <a:xfrm>
            <a:off x="400488" y="4388652"/>
            <a:ext cx="113910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streaming was successfully maintained across multiple handovers in multiple strategies during the experimental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demonstrated robust operation despite suboptimal VLC configuration, proving the resilience of the handover mechanisms under test</a:t>
            </a:r>
          </a:p>
        </p:txBody>
      </p:sp>
    </p:spTree>
    <p:extLst>
      <p:ext uri="{BB962C8B-B14F-4D97-AF65-F5344CB8AC3E}">
        <p14:creationId xmlns:p14="http://schemas.microsoft.com/office/powerpoint/2010/main" val="1521740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219E-1BA9-F75A-6A71-BF78D2536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61277"/>
            <a:ext cx="11402568" cy="91713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9.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Key Insights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BF002-A826-A149-4F3A-475A0D96A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944" y="978408"/>
            <a:ext cx="11564112" cy="5742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 Model Impact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choice of mobility model is critical for evaluating handover performance, as different patterns expose different strengths and weaknesses of handover strategies.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3525E9-E622-5EE7-85CC-A097431E0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901210"/>
              </p:ext>
            </p:extLst>
          </p:nvPr>
        </p:nvGraphicFramePr>
        <p:xfrm>
          <a:off x="1329108" y="2828544"/>
          <a:ext cx="9533784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892">
                  <a:extLst>
                    <a:ext uri="{9D8B030D-6E8A-4147-A177-3AD203B41FA5}">
                      <a16:colId xmlns:a16="http://schemas.microsoft.com/office/drawing/2014/main" val="2744417001"/>
                    </a:ext>
                  </a:extLst>
                </a:gridCol>
                <a:gridCol w="4766892">
                  <a:extLst>
                    <a:ext uri="{9D8B030D-6E8A-4147-A177-3AD203B41FA5}">
                      <a16:colId xmlns:a16="http://schemas.microsoft.com/office/drawing/2014/main" val="8741288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RWP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35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Fewer handovers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handovers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92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Fluctuating signals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319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Easier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Harder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334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baseline results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Stresses all strategies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59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4658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89DBF-708D-C583-FAC9-FAB76D9CA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90805"/>
            <a:ext cx="11244072" cy="99733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10. Conclusions &amp; Future Work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02A97-0107-EA15-115C-78C2ACECD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" y="1088136"/>
            <a:ext cx="11716512" cy="56790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Mobility pattern significantly affects handover performance. Random Direction stresses mechanisms more than Random Way Point, exposing weaknesses in reactive approaches.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SDN-Optimized strategy delivers the lowest delay , highest throughput and best stability across both mobility models.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Video streaming test confirms handover mechanisms work in practice with real multimedia applications.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Machine Learning Integration.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Vehicular-Speed Mobility.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Multi-Controller SDN Architecture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5350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0429B-E40D-43D0-E452-AA9EA4DCC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557" y="552539"/>
            <a:ext cx="5257801" cy="54313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518997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5841</TotalTime>
  <Words>2984</Words>
  <Application>Microsoft Office PowerPoint</Application>
  <PresentationFormat>Widescreen</PresentationFormat>
  <Paragraphs>330</Paragraphs>
  <Slides>34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Arial</vt:lpstr>
      <vt:lpstr>Calibri</vt:lpstr>
      <vt:lpstr>Calibri Light</vt:lpstr>
      <vt:lpstr>Times New Roman</vt:lpstr>
      <vt:lpstr>Office 2013 - 2022 Theme</vt:lpstr>
      <vt:lpstr>DEPARTMENT OF COMPUTER ENGINEERING, MODELING, ELECTRONICS AND SYSTEM ENGINEERING  LM-Telecommunication Engineering: Smart Sensing, Computing and Networking   Laboratory of Smart and Programmable Networks Project with Title: Comparative Analysis of Handover Strategies under Random Way Point and Random Direction Mobility in SDN-Enabled Mininet-WiFi Networks  Supervisor :  Prof. Pasquale Pace                         Eng. Graziano Rizzo </vt:lpstr>
      <vt:lpstr>                    1. Introduction &amp; Motivation</vt:lpstr>
      <vt:lpstr>                    1. Introduction &amp; Motivation</vt:lpstr>
      <vt:lpstr>     2. Background: IEEE 802.11 Link-Layer Handover</vt:lpstr>
      <vt:lpstr>        2. Background: Canonical Mobility Models</vt:lpstr>
      <vt:lpstr>            2. Background: Canonical Mobility Models</vt:lpstr>
      <vt:lpstr>                            3. Problems &amp; Goals</vt:lpstr>
      <vt:lpstr>               4. System Design &amp; Architecture</vt:lpstr>
      <vt:lpstr>                              5. Handover Strategies </vt:lpstr>
      <vt:lpstr>                         5. Handover Strategies  </vt:lpstr>
      <vt:lpstr>                            5. Handover Strategies  </vt:lpstr>
      <vt:lpstr>                            5. Handover Strategies </vt:lpstr>
      <vt:lpstr>                  5. Handover Strategies </vt:lpstr>
      <vt:lpstr>                          5. Handover Strategies </vt:lpstr>
      <vt:lpstr>                               5. Handover Strategies </vt:lpstr>
      <vt:lpstr>                             5. Handover Strategies </vt:lpstr>
      <vt:lpstr>                          5. Handover Strategies</vt:lpstr>
      <vt:lpstr>                            5. Handover Strategies </vt:lpstr>
      <vt:lpstr>   6. Performance Metrics &amp; Data Collection Methodology</vt:lpstr>
      <vt:lpstr>    6. Performance Metrics &amp; Data Collection Methodology</vt:lpstr>
      <vt:lpstr>6. Performance Metrics &amp; Data Collection Methodology</vt:lpstr>
      <vt:lpstr>6. Performance Metrics &amp; Data Collection Methodology</vt:lpstr>
      <vt:lpstr>                           7. Experimental Results</vt:lpstr>
      <vt:lpstr>7. Experimental Results: Handover Delay Analysis from CSV Data</vt:lpstr>
      <vt:lpstr>7. Experimental Results: Success Rate Analysis from CSV Data</vt:lpstr>
      <vt:lpstr>7. Experimental Results: Packet Loss Analysis from CSV Data</vt:lpstr>
      <vt:lpstr>7. Experimental Results: Throughput Analysis from CSV Data</vt:lpstr>
      <vt:lpstr>7. Experimental Results: Latency Analysis from CSV Data</vt:lpstr>
      <vt:lpstr>             7. Results: Overall Performance Score</vt:lpstr>
      <vt:lpstr>              8. Real-World Validation: Video Streaming</vt:lpstr>
      <vt:lpstr>              8. Real-World Validation: Video Streaming</vt:lpstr>
      <vt:lpstr>                        9. Discussion &amp; Key Insights</vt:lpstr>
      <vt:lpstr>                   10. Conclusions &amp;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Hussin Mohammed</dc:creator>
  <cp:lastModifiedBy>Hussin Mohammed</cp:lastModifiedBy>
  <cp:revision>29</cp:revision>
  <dcterms:created xsi:type="dcterms:W3CDTF">2025-11-22T11:00:06Z</dcterms:created>
  <dcterms:modified xsi:type="dcterms:W3CDTF">2025-12-02T21:16:44Z</dcterms:modified>
</cp:coreProperties>
</file>